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ukoe\asn-deploy-stabilize\public\brand\backgrounds\asn-background-desktop-16x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BFD">
              <a:alpha val="12000"/>
            </a:srgbClr>
          </a:solidFill>
          <a:ln/>
        </p:spPr>
      </p:sp>
      <p:pic>
        <p:nvPicPr>
          <p:cNvPr id="4" name="Image 1" descr="C:\Users\lukoe\asn-deploy-stabilize\public\brand\logos\asn-logo-horizonta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384048"/>
            <a:ext cx="1965960" cy="530352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02920" y="1078992"/>
            <a:ext cx="86868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Text 2"/>
          <p:cNvSpPr/>
          <p:nvPr/>
        </p:nvSpPr>
        <p:spPr>
          <a:xfrm>
            <a:off x="502920" y="1261872"/>
            <a:ext cx="65379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B1D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Relationship support statements are a workflow problem.</a:t>
            </a:r>
            <a:endParaRPr lang="en-US" sz="3800" dirty="0"/>
          </a:p>
        </p:txBody>
      </p:sp>
      <p:sp>
        <p:nvSpPr>
          <p:cNvPr id="7" name="Text 3"/>
          <p:cNvSpPr/>
          <p:nvPr/>
        </p:nvSpPr>
        <p:spPr>
          <a:xfrm>
            <a:off x="502920" y="2788920"/>
            <a:ext cx="6355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E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 · review · revise · approve — with a clear process record.</a:t>
            </a:r>
            <a:endParaRPr lang="en-US" sz="1900" dirty="0"/>
          </a:p>
        </p:txBody>
      </p:sp>
      <p:sp>
        <p:nvSpPr>
          <p:cNvPr id="8" name="Shape 4"/>
          <p:cNvSpPr/>
          <p:nvPr/>
        </p:nvSpPr>
        <p:spPr>
          <a:xfrm rot="300000">
            <a:off x="7909560" y="1508760"/>
            <a:ext cx="1691640" cy="2148840"/>
          </a:xfrm>
          <a:prstGeom prst="round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4D7DF3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019288" y="1764792"/>
            <a:ext cx="4572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0" name="Shape 6"/>
          <p:cNvSpPr/>
          <p:nvPr/>
        </p:nvSpPr>
        <p:spPr>
          <a:xfrm>
            <a:off x="8019288" y="1965960"/>
            <a:ext cx="1417320" cy="64008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11" name="Shape 7"/>
          <p:cNvSpPr/>
          <p:nvPr/>
        </p:nvSpPr>
        <p:spPr>
          <a:xfrm>
            <a:off x="8019288" y="2130552"/>
            <a:ext cx="1143000" cy="64008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12" name="Shape 8"/>
          <p:cNvSpPr/>
          <p:nvPr/>
        </p:nvSpPr>
        <p:spPr>
          <a:xfrm rot="-180000">
            <a:off x="8549640" y="2331720"/>
            <a:ext cx="1691640" cy="2148840"/>
          </a:xfrm>
          <a:prstGeom prst="round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4D7DF3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659368" y="2587752"/>
            <a:ext cx="4572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4" name="Shape 10"/>
          <p:cNvSpPr/>
          <p:nvPr/>
        </p:nvSpPr>
        <p:spPr>
          <a:xfrm>
            <a:off x="8659368" y="2788920"/>
            <a:ext cx="1417320" cy="64008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15" name="Shape 11"/>
          <p:cNvSpPr/>
          <p:nvPr/>
        </p:nvSpPr>
        <p:spPr>
          <a:xfrm>
            <a:off x="8659368" y="2953512"/>
            <a:ext cx="1143000" cy="64008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16" name="Shape 12"/>
          <p:cNvSpPr/>
          <p:nvPr/>
        </p:nvSpPr>
        <p:spPr>
          <a:xfrm>
            <a:off x="9875520" y="4114800"/>
            <a:ext cx="164592" cy="16459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455664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Synthetic demo · Not legal advice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38912"/>
            <a:ext cx="64008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47472"/>
            <a:ext cx="11155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D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Workflow infrastructure for support statements.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3566160" cy="1508760"/>
          </a:xfrm>
          <a:prstGeom prst="roundRect">
            <a:avLst/>
          </a:prstGeom>
          <a:solidFill>
            <a:srgbClr val="E6F0FA"/>
          </a:solidFill>
          <a:ln w="12700">
            <a:solidFill>
              <a:srgbClr val="4D7D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1563624"/>
            <a:ext cx="384048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" y="1691640"/>
            <a:ext cx="3310128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a law firm.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legal advice.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51960" y="1417320"/>
            <a:ext cx="3566160" cy="1508760"/>
          </a:xfrm>
          <a:prstGeom prst="roundRect">
            <a:avLst/>
          </a:prstGeom>
          <a:solidFill>
            <a:srgbClr val="E6F0FA"/>
          </a:solidFill>
          <a:ln w="12700">
            <a:solidFill>
              <a:srgbClr val="4D7D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61688" y="1563624"/>
            <a:ext cx="384048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4379976" y="1691640"/>
            <a:ext cx="3310128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a referral service.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outcome promises.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001000" y="1417320"/>
            <a:ext cx="3566160" cy="1508760"/>
          </a:xfrm>
          <a:prstGeom prst="roundRect">
            <a:avLst/>
          </a:prstGeom>
          <a:solidFill>
            <a:srgbClr val="E6F0FA"/>
          </a:solidFill>
          <a:ln w="12700">
            <a:solidFill>
              <a:srgbClr val="4D7DF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10728" y="1563624"/>
            <a:ext cx="384048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129016" y="1691640"/>
            <a:ext cx="3310128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Attorney review stays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the firm.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6455664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Synthetic demo · Not legal advice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38912"/>
            <a:ext cx="64008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47472"/>
            <a:ext cx="11155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D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firm starts from its case type.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1115568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E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Relationship-support workflows around the selected matter type.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83464" y="1655064"/>
            <a:ext cx="11594592" cy="2404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7DF3"/>
            </a:solidFill>
            <a:prstDash val="solid"/>
          </a:ln>
        </p:spPr>
      </p:sp>
      <p:pic>
        <p:nvPicPr>
          <p:cNvPr id="7" name="Image 0" descr="C:\Users\lukoe\Downloads\asn-reports\artifacts\bfm-video-redesign-v4-2026-06-09-1247\_crops\01-case-typ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691640"/>
            <a:ext cx="11521440" cy="23317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4343400"/>
            <a:ext cx="4389120" cy="457200"/>
          </a:xfrm>
          <a:prstGeom prst="roundRect">
            <a:avLst/>
          </a:prstGeom>
          <a:solidFill>
            <a:srgbClr val="E6F0FA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2648" y="4434840"/>
            <a:ext cx="4169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D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firm decides case strategy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65760" y="6455664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Synthetic demo · Not legal advice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38912"/>
            <a:ext cx="64008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47472"/>
            <a:ext cx="11155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D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One couple. Two witnesses. Separate paths.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1115568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E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witness completes a separate guided flow.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92024" y="1563624"/>
            <a:ext cx="11823192" cy="4782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7DF3"/>
            </a:solidFill>
            <a:prstDash val="solid"/>
          </a:ln>
        </p:spPr>
      </p:sp>
      <p:pic>
        <p:nvPicPr>
          <p:cNvPr id="7" name="Image 0" descr="C:\Users\lukoe\Downloads\asn-reports\artifacts\bfm-video-redesign-v4-2026-06-09-1247\_crops\02-witness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1600200"/>
            <a:ext cx="11750040" cy="4709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5504688"/>
            <a:ext cx="4114800" cy="457200"/>
          </a:xfrm>
          <a:prstGeom prst="roundRect">
            <a:avLst/>
          </a:prstGeom>
          <a:solidFill>
            <a:srgbClr val="E6F0FA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2648" y="5596128"/>
            <a:ext cx="3895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D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Statements remain separate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65760" y="6455664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Synthetic demo · Not legal advice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38912"/>
            <a:ext cx="64008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47472"/>
            <a:ext cx="11155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D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Questions focus on personal observations.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1115568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E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Relationship scope — not legal conclusions.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92024" y="1563624"/>
            <a:ext cx="11823192" cy="5056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7DF3"/>
            </a:solidFill>
            <a:prstDash val="solid"/>
          </a:ln>
        </p:spPr>
      </p:sp>
      <p:pic>
        <p:nvPicPr>
          <p:cNvPr id="7" name="Image 0" descr="C:\Users\lukoe\Downloads\asn-reports\artifacts\bfm-video-redesign-v4-2026-06-09-1247\_crops\03-gateway-u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1600200"/>
            <a:ext cx="11750040" cy="4983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5504688"/>
            <a:ext cx="5486400" cy="457200"/>
          </a:xfrm>
          <a:prstGeom prst="roundRect">
            <a:avLst/>
          </a:prstGeom>
          <a:solidFill>
            <a:srgbClr val="E6F0FA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2648" y="5596128"/>
            <a:ext cx="5266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D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 observations of the relationship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65760" y="6455664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Synthetic demo · Not legal advice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38912"/>
            <a:ext cx="64008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47472"/>
            <a:ext cx="11155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D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relationship statement, not a character-letter template.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1115568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E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 Observations of the Relationship.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83464" y="2295144"/>
            <a:ext cx="11594592" cy="2039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7DF3"/>
            </a:solidFill>
            <a:prstDash val="solid"/>
          </a:ln>
        </p:spPr>
      </p:sp>
      <p:pic>
        <p:nvPicPr>
          <p:cNvPr id="7" name="Image 0" descr="C:\Users\lukoe\Downloads\asn-reports\artifacts\bfm-video-redesign-v4-2026-06-09-1247\_crops\04-heading-u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2331720"/>
            <a:ext cx="11521440" cy="1965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4617720"/>
            <a:ext cx="4572000" cy="457200"/>
          </a:xfrm>
          <a:prstGeom prst="roundRect">
            <a:avLst/>
          </a:prstGeom>
          <a:solidFill>
            <a:srgbClr val="E6F0FA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2648" y="4709160"/>
            <a:ext cx="43525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D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Relationship-focused statement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65760" y="6455664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Synthetic demo · Not legal advice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38912"/>
            <a:ext cx="64008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47472"/>
            <a:ext cx="11155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D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Submission stops for attorney review.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1115568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E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Witness sees pending review before signature preparation.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74904" y="1563624"/>
            <a:ext cx="11411712" cy="4782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7DF3"/>
            </a:solidFill>
            <a:prstDash val="solid"/>
          </a:ln>
        </p:spPr>
      </p:sp>
      <p:pic>
        <p:nvPicPr>
          <p:cNvPr id="7" name="Image 0" descr="C:\Users\lukoe\Downloads\asn-reports\artifacts\bfm-video-redesign-v4-2026-06-09-1247\_crops\05-pend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600200"/>
            <a:ext cx="11338560" cy="4709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5504688"/>
            <a:ext cx="4389120" cy="457200"/>
          </a:xfrm>
          <a:prstGeom prst="roundRect">
            <a:avLst/>
          </a:prstGeom>
          <a:solidFill>
            <a:srgbClr val="E6F0FA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2648" y="5596128"/>
            <a:ext cx="4169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D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Attorney review before signing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65760" y="6455664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Synthetic demo · Not legal advice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6F0FA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38912"/>
            <a:ext cx="64008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47472"/>
            <a:ext cx="11155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D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firm sees the review work in one place.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1115568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E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Submitted statements in the attorney review queue.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46304" y="1563624"/>
            <a:ext cx="11868912" cy="4233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7DF3"/>
            </a:solidFill>
            <a:prstDash val="solid"/>
          </a:ln>
        </p:spPr>
      </p:sp>
      <p:pic>
        <p:nvPicPr>
          <p:cNvPr id="7" name="Image 0" descr="C:\Users\lukoe\Downloads\asn-reports\artifacts\bfm-video-redesign-v4-2026-06-09-1247\_crops\06-tasks-u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1600200"/>
            <a:ext cx="11795760" cy="41605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5504688"/>
            <a:ext cx="4114800" cy="457200"/>
          </a:xfrm>
          <a:prstGeom prst="roundRect">
            <a:avLst/>
          </a:prstGeom>
          <a:solidFill>
            <a:srgbClr val="E6F0FA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2648" y="5596128"/>
            <a:ext cx="3895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D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witnesses · one review queue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65760" y="6455664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Synthetic demo · Not legal advice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ukoe\asn-deploy-stabilize\public\brand\backgrounds\asn-background-desktop-16x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BFD">
              <a:alpha val="12000"/>
            </a:srgbClr>
          </a:solidFill>
          <a:ln/>
        </p:spPr>
      </p:sp>
      <p:pic>
        <p:nvPicPr>
          <p:cNvPr id="4" name="Image 1" descr="C:\Users\lukoe\asn-deploy-stabilize\public\brand\logos\asn-logo-horizonta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347472"/>
            <a:ext cx="1691640" cy="4572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02920" y="896112"/>
            <a:ext cx="59436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Text 2"/>
          <p:cNvSpPr/>
          <p:nvPr/>
        </p:nvSpPr>
        <p:spPr>
          <a:xfrm>
            <a:off x="502920" y="804672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Timeline, revision reasons, and good-faith review.</a:t>
            </a:r>
            <a:endParaRPr lang="en-US" sz="3000" dirty="0"/>
          </a:p>
        </p:txBody>
      </p:sp>
      <p:pic>
        <p:nvPicPr>
          <p:cNvPr id="7" name="Image 2" descr="C:\Users\lukoe\Downloads\asn-reports\artifacts\bfm-video-redesign-v4-2026-06-09-1247\_crops\final-collag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28600" y="1600200"/>
            <a:ext cx="7452360" cy="489204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7909560" y="1691640"/>
            <a:ext cx="3840480" cy="470916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4D7DF3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8092440" y="19659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D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 record for internal review</a:t>
            </a:r>
            <a:endParaRPr lang="en-US" sz="1700" dirty="0"/>
          </a:p>
        </p:txBody>
      </p:sp>
      <p:sp>
        <p:nvSpPr>
          <p:cNvPr id="10" name="Text 5"/>
          <p:cNvSpPr/>
          <p:nvPr/>
        </p:nvSpPr>
        <p:spPr>
          <a:xfrm>
            <a:off x="8092440" y="260604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E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revision reasons and review history when multiple people touch the file.</a:t>
            </a:r>
            <a:endParaRPr lang="en-US" sz="1500" dirty="0"/>
          </a:p>
        </p:txBody>
      </p:sp>
      <p:sp>
        <p:nvSpPr>
          <p:cNvPr id="11" name="Shape 6"/>
          <p:cNvSpPr/>
          <p:nvPr/>
        </p:nvSpPr>
        <p:spPr>
          <a:xfrm>
            <a:off x="8092440" y="5074920"/>
            <a:ext cx="3246120" cy="530352"/>
          </a:xfrm>
          <a:prstGeom prst="roundRect">
            <a:avLst/>
          </a:prstGeom>
          <a:solidFill>
            <a:srgbClr val="0B1D3A"/>
          </a:solidFill>
          <a:ln/>
        </p:spPr>
      </p:sp>
      <p:sp>
        <p:nvSpPr>
          <p:cNvPr id="12" name="Text 7"/>
          <p:cNvSpPr/>
          <p:nvPr/>
        </p:nvSpPr>
        <p:spPr>
          <a:xfrm>
            <a:off x="8092440" y="521208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Reply if a short walkthrough would be useful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365760" y="6455664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Synthetic demo · Not legal advice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BFM walkthrough 3m v4</dc:title>
  <dc:subject>ASN brand promo v4</dc:subject>
  <dc:creator>Affidavit Support Network</dc:creator>
  <cp:lastModifiedBy>Affidavit Support Network</cp:lastModifiedBy>
  <cp:revision>1</cp:revision>
  <dcterms:created xsi:type="dcterms:W3CDTF">2026-06-09T19:49:15Z</dcterms:created>
  <dcterms:modified xsi:type="dcterms:W3CDTF">2026-06-09T19:49:15Z</dcterms:modified>
</cp:coreProperties>
</file>