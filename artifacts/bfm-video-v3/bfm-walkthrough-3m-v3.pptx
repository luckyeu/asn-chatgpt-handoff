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ukoe\asn-deploy-stabilize\public\brand\backgrounds\asn-background-desktop-16x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D">
              <a:alpha val="16000"/>
            </a:srgbClr>
          </a:solidFill>
          <a:ln/>
        </p:spPr>
      </p:sp>
      <p:pic>
        <p:nvPicPr>
          <p:cNvPr id="4" name="Image 1" descr="C:\Users\lukoe\asn-deploy-stabilize\public\brand\logos\asn-logo-horizont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411480"/>
            <a:ext cx="214884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02920" y="1143000"/>
            <a:ext cx="1005840" cy="3200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2"/>
          <p:cNvSpPr/>
          <p:nvPr/>
        </p:nvSpPr>
        <p:spPr>
          <a:xfrm>
            <a:off x="502920" y="1325880"/>
            <a:ext cx="67665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B1D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Relationship support statements are a workflow problem.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502920" y="278892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E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 · review · revise · approve — before signing.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 rot="360000">
            <a:off x="8046720" y="1097280"/>
            <a:ext cx="1828800" cy="2331720"/>
          </a:xfrm>
          <a:prstGeom prst="round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4D7DF3">
                <a:alpha val="7000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183880" y="1417320"/>
            <a:ext cx="502920" cy="3200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Shape 6"/>
          <p:cNvSpPr/>
          <p:nvPr/>
        </p:nvSpPr>
        <p:spPr>
          <a:xfrm>
            <a:off x="8183880" y="1600200"/>
            <a:ext cx="1417320" cy="73152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1" name="Shape 7"/>
          <p:cNvSpPr/>
          <p:nvPr/>
        </p:nvSpPr>
        <p:spPr>
          <a:xfrm>
            <a:off x="8183880" y="1783080"/>
            <a:ext cx="1234440" cy="73152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2" name="Shape 8"/>
          <p:cNvSpPr/>
          <p:nvPr/>
        </p:nvSpPr>
        <p:spPr>
          <a:xfrm rot="-240000">
            <a:off x="8686800" y="1828800"/>
            <a:ext cx="1828800" cy="2331720"/>
          </a:xfrm>
          <a:prstGeom prst="round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4D7DF3">
                <a:alpha val="7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823960" y="2148840"/>
            <a:ext cx="502920" cy="3200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Shape 10"/>
          <p:cNvSpPr/>
          <p:nvPr/>
        </p:nvSpPr>
        <p:spPr>
          <a:xfrm>
            <a:off x="8823960" y="2331720"/>
            <a:ext cx="1417320" cy="73152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823960" y="2514600"/>
            <a:ext cx="1234440" cy="73152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6" name="Shape 12"/>
          <p:cNvSpPr/>
          <p:nvPr/>
        </p:nvSpPr>
        <p:spPr>
          <a:xfrm rot="180000">
            <a:off x="9235440" y="2743200"/>
            <a:ext cx="1828800" cy="2331720"/>
          </a:xfrm>
          <a:prstGeom prst="round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4D7DF3">
                <a:alpha val="7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372600" y="3063240"/>
            <a:ext cx="502920" cy="3200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Shape 14"/>
          <p:cNvSpPr/>
          <p:nvPr/>
        </p:nvSpPr>
        <p:spPr>
          <a:xfrm>
            <a:off x="9372600" y="3246120"/>
            <a:ext cx="1417320" cy="73152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9" name="Shape 15"/>
          <p:cNvSpPr/>
          <p:nvPr/>
        </p:nvSpPr>
        <p:spPr>
          <a:xfrm>
            <a:off x="9372600" y="3429000"/>
            <a:ext cx="1234440" cy="73152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20" name="Shape 16"/>
          <p:cNvSpPr/>
          <p:nvPr/>
        </p:nvSpPr>
        <p:spPr>
          <a:xfrm>
            <a:off x="10652760" y="4617720"/>
            <a:ext cx="201168" cy="20116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7"/>
          <p:cNvSpPr/>
          <p:nvPr/>
        </p:nvSpPr>
        <p:spPr>
          <a:xfrm>
            <a:off x="365760" y="6455664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demo · Not legal advice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685800" cy="3200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D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Workflow infrastructure for support statements.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520440" cy="141732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4D7D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64792"/>
            <a:ext cx="411480" cy="3200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92808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 law firm.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legal advice.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251960" y="1600200"/>
            <a:ext cx="3520440" cy="141732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4D7D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764792"/>
            <a:ext cx="411480" cy="3200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1892808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 referral service.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outcome promises.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001000" y="1600200"/>
            <a:ext cx="3520440" cy="141732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4D7D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764792"/>
            <a:ext cx="411480" cy="3200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1892808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Attorney review stays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the firm.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5760" y="6455664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demo · Not legal advice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685800" cy="3200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D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firm starts from its case type.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E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Relationship-support workflows around the selected matter type.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12471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7DF3"/>
            </a:solidFill>
            <a:prstDash val="solid"/>
          </a:ln>
        </p:spPr>
      </p:sp>
      <p:pic>
        <p:nvPicPr>
          <p:cNvPr id="7" name="Image 0" descr="C:\Users\lukoe\Downloads\asn-reports\artifacts\bfm-video-redesign-v3-2026-06-09-1131\_crops\01-case-typ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965960"/>
            <a:ext cx="11155680" cy="2148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572000"/>
            <a:ext cx="7772400" cy="50292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" y="4681728"/>
            <a:ext cx="7552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ASN uses the selected workflow; the firm decides case strategy.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65760" y="6455664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demo · Not legal advice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685800" cy="3200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D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One couple. Two witnesses. Separate paths.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E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demo — statements remain separate.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114300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7DF3"/>
            </a:solidFill>
            <a:prstDash val="solid"/>
          </a:ln>
        </p:spPr>
      </p:sp>
      <p:pic>
        <p:nvPicPr>
          <p:cNvPr id="7" name="Image 0" descr="C:\Users\lukoe\Downloads\asn-reports\artifacts\bfm-video-redesign-v3-2026-06-09-1131\_crops\02-witness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874520"/>
            <a:ext cx="11338560" cy="4434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5532120"/>
            <a:ext cx="4754880" cy="50292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" y="5641848"/>
            <a:ext cx="4535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data — not one merged document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65760" y="6455664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demo · Not legal advice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685800" cy="3200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D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Questions focus on personal observations.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E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Relationship scope — not legal conclusions.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7DF3"/>
            </a:solidFill>
            <a:prstDash val="solid"/>
          </a:ln>
        </p:spPr>
      </p:sp>
      <p:pic>
        <p:nvPicPr>
          <p:cNvPr id="7" name="Image 0" descr="C:\Users\lukoe\Downloads\asn-reports\artifacts\bfm-video-redesign-v3-2026-06-09-1131\_crops\03-gatew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874520"/>
            <a:ext cx="11155680" cy="4434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5532120"/>
            <a:ext cx="6400800" cy="50292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" y="5641848"/>
            <a:ext cx="6181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legal conclusions about bona fide marriage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65760" y="6455664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demo · Not legal advice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685800" cy="3200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D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relationship statement, not a character-letter template.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E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 Observations of the Relationship.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11247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7DF3"/>
            </a:solidFill>
            <a:prstDash val="solid"/>
          </a:ln>
        </p:spPr>
      </p:sp>
      <p:pic>
        <p:nvPicPr>
          <p:cNvPr id="7" name="Image 0" descr="C:\Users\lukoe\Downloads\asn-reports\artifacts\bfm-video-redesign-v3-2026-06-09-1131\_crops\04-head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2423160"/>
            <a:ext cx="11155680" cy="1417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160520"/>
            <a:ext cx="5029200" cy="50292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" y="4270248"/>
            <a:ext cx="4809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generic character-essay framing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65760" y="6455664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demo · Not legal advice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685800" cy="3200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D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Submission stops for attorney review.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E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Witness may see pending review before signature preparation.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0881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7DF3"/>
            </a:solidFill>
            <a:prstDash val="solid"/>
          </a:ln>
        </p:spPr>
      </p:sp>
      <p:pic>
        <p:nvPicPr>
          <p:cNvPr id="7" name="Image 0" descr="C:\Users\lukoe\Downloads\asn-reports\artifacts\bfm-video-redesign-v3-2026-06-09-1131\_crops\05-pend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874520"/>
            <a:ext cx="10789920" cy="4434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5532120"/>
            <a:ext cx="7315200" cy="50292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" y="5641848"/>
            <a:ext cx="7095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demo composite — no signing provider call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65760" y="6455664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demo · Not legal advice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685800" cy="3200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D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firm sees the review work in one place.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E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Submitted statements in the attorney review queue.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1161288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7DF3"/>
            </a:solidFill>
            <a:prstDash val="solid"/>
          </a:ln>
        </p:spPr>
      </p:sp>
      <p:pic>
        <p:nvPicPr>
          <p:cNvPr id="7" name="Image 0" descr="C:\Users\lukoe\Downloads\asn-reports\artifacts\bfm-video-redesign-v3-2026-06-09-1131\_crops\06-task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874520"/>
            <a:ext cx="11521440" cy="3977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5532120"/>
            <a:ext cx="6858000" cy="50292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" y="5641848"/>
            <a:ext cx="6638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submitted witnesses · one review queue · demo data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65760" y="6455664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demo · Not legal advice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ukoe\asn-deploy-stabilize\public\brand\backgrounds\asn-background-desktop-16x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D">
              <a:alpha val="20000"/>
            </a:srgbClr>
          </a:solidFill>
          <a:ln/>
        </p:spPr>
      </p:sp>
      <p:pic>
        <p:nvPicPr>
          <p:cNvPr id="4" name="Image 1" descr="C:\Users\lukoe\asn-deploy-stabilize\public\brand\logos\asn-logo-horizont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384048"/>
            <a:ext cx="1828800" cy="5029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02920" y="960120"/>
            <a:ext cx="685800" cy="3200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2"/>
          <p:cNvSpPr/>
          <p:nvPr/>
        </p:nvSpPr>
        <p:spPr>
          <a:xfrm>
            <a:off x="502920" y="86868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D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Timeline, revision reasons, and good-faith review.</a:t>
            </a:r>
            <a:endParaRPr lang="en-US" sz="3400" dirty="0"/>
          </a:p>
        </p:txBody>
      </p:sp>
      <p:pic>
        <p:nvPicPr>
          <p:cNvPr id="7" name="Image 2" descr="C:\Users\lukoe\Downloads\asn-reports\artifacts\bfm-video-redesign-v3-2026-06-09-1131\_crops\collage-final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0040" y="1874520"/>
            <a:ext cx="7498080" cy="434340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092440" y="1965960"/>
            <a:ext cx="3611880" cy="416052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4D7DF3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275320" y="224028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E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record for internal review — not an outcome guarantee.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8275320" y="5074920"/>
            <a:ext cx="3246120" cy="530352"/>
          </a:xfrm>
          <a:prstGeom prst="roundRect">
            <a:avLst/>
          </a:prstGeom>
          <a:solidFill>
            <a:srgbClr val="0B1D3A"/>
          </a:solidFill>
          <a:ln/>
        </p:spPr>
      </p:sp>
      <p:sp>
        <p:nvSpPr>
          <p:cNvPr id="11" name="Text 6"/>
          <p:cNvSpPr/>
          <p:nvPr/>
        </p:nvSpPr>
        <p:spPr>
          <a:xfrm>
            <a:off x="8275320" y="52120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Reply if a short walkthrough would be useful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365760" y="6455664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demo · Not legal advice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BFM walkthrough 3m v3</dc:title>
  <dc:subject>ASN Brandbook v2 — attorney walkthrough</dc:subject>
  <dc:creator>Affidavit Support Network</dc:creator>
  <cp:lastModifiedBy>Affidavit Support Network</cp:lastModifiedBy>
  <cp:revision>1</cp:revision>
  <dcterms:created xsi:type="dcterms:W3CDTF">2026-06-09T18:32:47Z</dcterms:created>
  <dcterms:modified xsi:type="dcterms:W3CDTF">2026-06-09T18:32:47Z</dcterms:modified>
</cp:coreProperties>
</file>